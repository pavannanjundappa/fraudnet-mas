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70" r:id="rId9"/>
    <p:sldId id="271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2865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100584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64008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11064240" y="118872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0" y="173736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" name="Shape 4"/>
          <p:cNvSpPr/>
          <p:nvPr/>
        </p:nvSpPr>
        <p:spPr>
          <a:xfrm>
            <a:off x="11247120" y="192024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9418320" y="2103120"/>
            <a:ext cx="82296" cy="8229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9733788" y="681228"/>
            <a:ext cx="731520" cy="365760"/>
          </a:xfrm>
          <a:prstGeom prst="line">
            <a:avLst/>
          </a:prstGeom>
          <a:noFill/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65308" y="681228"/>
            <a:ext cx="640080" cy="548640"/>
          </a:xfrm>
          <a:prstGeom prst="line">
            <a:avLst/>
          </a:prstGeom>
          <a:noFill/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99548" y="681228"/>
            <a:ext cx="365760" cy="1097280"/>
          </a:xfrm>
          <a:prstGeom prst="line">
            <a:avLst/>
          </a:prstGeom>
          <a:noFill/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99548" y="1778508"/>
            <a:ext cx="1188720" cy="182880"/>
          </a:xfrm>
          <a:prstGeom prst="line">
            <a:avLst/>
          </a:prstGeom>
          <a:noFill/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59468" y="1778508"/>
            <a:ext cx="640080" cy="365760"/>
          </a:xfrm>
          <a:prstGeom prst="line">
            <a:avLst/>
          </a:prstGeom>
          <a:noFill/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733788" y="1046988"/>
            <a:ext cx="365760" cy="731520"/>
          </a:xfrm>
          <a:prstGeom prst="line">
            <a:avLst/>
          </a:prstGeom>
          <a:noFill/>
          <a:ln w="9525">
            <a:solidFill>
              <a:srgbClr val="CADCFC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33172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FraudNet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868680" y="3429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Insurance Fraud Detection System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68680" y="39776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A9B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Microsoft Agent Framework  ·  FoundryChatClient + ConcurrentBuilder  ·  Human-in-the-Loop Review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868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50749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Bhilai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Final-Year Master’s Project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5394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7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Pavan Balaji Nanjundappa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Insurance fraud hides across systems, not within 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94360" y="167335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52704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rings exploit the seams between policy issuance, premium payments, broker channels, and claims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94360" y="272491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57860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rule engines and single-model classifiers only ever see one slice of the story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94360" y="3776472"/>
            <a:ext cx="82296" cy="822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63016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ghost broker selling fake policies looks unremarkable in the claims table alone — the pattern only appears when tables are read together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537960" y="169164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1938528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0" descr="icons/policy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6368" y="2139696"/>
            <a:ext cx="420624" cy="42062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629400" y="288036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/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Free-Look Abuse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9235440" y="169164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1E2761"/>
          </a:solidFill>
          <a:ln/>
        </p:spPr>
      </p:sp>
      <p:sp>
        <p:nvSpPr>
          <p:cNvPr id="14" name="Shape 11"/>
          <p:cNvSpPr/>
          <p:nvPr/>
        </p:nvSpPr>
        <p:spPr>
          <a:xfrm>
            <a:off x="10012680" y="1938528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1" descr="icons/payments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3848" y="2139696"/>
            <a:ext cx="420624" cy="4206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9326880" y="288036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537960" y="397764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1E2761"/>
          </a:solidFill>
          <a:ln/>
        </p:spPr>
      </p:sp>
      <p:sp>
        <p:nvSpPr>
          <p:cNvPr id="18" name="Shape 14"/>
          <p:cNvSpPr/>
          <p:nvPr/>
        </p:nvSpPr>
        <p:spPr>
          <a:xfrm>
            <a:off x="7315200" y="4224528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2" descr="icons/broker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6368" y="4425696"/>
            <a:ext cx="420624" cy="42062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629400" y="516636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Broking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9235440" y="3977640"/>
            <a:ext cx="2377440" cy="1965960"/>
          </a:xfrm>
          <a:prstGeom prst="roundRect">
            <a:avLst>
              <a:gd name="adj" fmla="val 5581"/>
            </a:avLst>
          </a:prstGeom>
          <a:solidFill>
            <a:srgbClr val="1E2761"/>
          </a:solidFill>
          <a:ln/>
        </p:spPr>
      </p:sp>
      <p:sp>
        <p:nvSpPr>
          <p:cNvPr id="22" name="Shape 17"/>
          <p:cNvSpPr/>
          <p:nvPr/>
        </p:nvSpPr>
        <p:spPr>
          <a:xfrm>
            <a:off x="10012680" y="4224528"/>
            <a:ext cx="822960" cy="8229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3" name="Image 3" descr="icons/claims_1E27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3848" y="4425696"/>
            <a:ext cx="420624" cy="42062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326880" y="5166360"/>
            <a:ext cx="2194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linked synthetic datasets, 1,000 records each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shares customer_id, agent_id, or policy_id — the same bad actor leaves a trail across tables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3,200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43400" y="16002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43400" y="2286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(51 ghost brokers)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6002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 x 4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286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across all tables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11064240" cy="0"/>
          </a:xfrm>
          <a:prstGeom prst="line">
            <a:avLst/>
          </a:prstGeom>
          <a:noFill/>
          <a:ln w="12700">
            <a:solidFill>
              <a:srgbClr val="DCE1F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27432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52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 Rate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Fraud Types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policies_free_insurance.csv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Free-Look Abuse, Backdated Issuance, Fronting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payments_bad_payments.csv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Diversion, Bounced Cheque 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ghost_broking.csv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Unlicensed Selling, Premium Pocketing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claims.csv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Claim Fraud, Staged Accident, Duplicate 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Architecture: four agents in parallel, one fused decision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82880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Input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policy_id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377440" y="1668780"/>
            <a:ext cx="8037576" cy="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80360" y="1051560"/>
            <a:ext cx="1691640" cy="1234440"/>
          </a:xfrm>
          <a:prstGeom prst="roundRect">
            <a:avLst>
              <a:gd name="adj" fmla="val 740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0" y="1184148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" name="Image 0" descr="icons/policy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1303020"/>
            <a:ext cx="265176" cy="2651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926080" y="1764792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828032" y="1051560"/>
            <a:ext cx="1691640" cy="1234440"/>
          </a:xfrm>
          <a:prstGeom prst="roundRect">
            <a:avLst>
              <a:gd name="adj" fmla="val 740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22392" y="1184148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mage 1" descr="icons/payments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1264" y="1303020"/>
            <a:ext cx="265176" cy="2651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73752" y="1764792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775704" y="1051560"/>
            <a:ext cx="1691640" cy="1234440"/>
          </a:xfrm>
          <a:prstGeom prst="roundRect">
            <a:avLst>
              <a:gd name="adj" fmla="val 740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70064" y="1184148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icons/broker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936" y="1303020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21424" y="1764792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Integrity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723376" y="1051560"/>
            <a:ext cx="1691640" cy="1234440"/>
          </a:xfrm>
          <a:prstGeom prst="roundRect">
            <a:avLst>
              <a:gd name="adj" fmla="val 7407"/>
            </a:avLst>
          </a:prstGeom>
          <a:solidFill>
            <a:srgbClr val="F4F6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17736" y="1184148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icons/claims_1E27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6608" y="1303020"/>
            <a:ext cx="265176" cy="2651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69096" y="1764792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2880360" y="2395728"/>
            <a:ext cx="75346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— all four run in parallel against the same case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858768" y="2331720"/>
            <a:ext cx="2221992" cy="73152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5806440" y="2308863"/>
            <a:ext cx="274320" cy="754377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 flipV="1">
            <a:off x="6519672" y="2363724"/>
            <a:ext cx="850392" cy="653796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 flipV="1">
            <a:off x="6821424" y="2363723"/>
            <a:ext cx="2615184" cy="726948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480560" y="3063240"/>
            <a:ext cx="3200400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/>
        </p:spPr>
      </p:sp>
      <p:sp>
        <p:nvSpPr>
          <p:cNvPr id="28" name="Shape 22"/>
          <p:cNvSpPr/>
          <p:nvPr/>
        </p:nvSpPr>
        <p:spPr>
          <a:xfrm>
            <a:off x="4823460" y="324612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9" name="Image 4" descr="icons/cogs_1E27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42332" y="3364992"/>
            <a:ext cx="265176" cy="26517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5440680" y="306324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fuse_verdicts()</a:t>
            </a:r>
            <a:endParaRPr lang="en-US" sz="1100" dirty="0"/>
          </a:p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score + threshold rule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 flipV="1">
            <a:off x="2211355" y="3909060"/>
            <a:ext cx="3503645" cy="594357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1463040" y="45262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</p:sp>
      <p:pic>
        <p:nvPicPr>
          <p:cNvPr id="33" name="Image 5" descr="icons/approve_2E7D3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72768" y="4654296"/>
            <a:ext cx="338328" cy="338328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965960" y="452628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200" dirty="0"/>
          </a:p>
        </p:txBody>
      </p:sp>
      <p:sp>
        <p:nvSpPr>
          <p:cNvPr id="35" name="Shape 27"/>
          <p:cNvSpPr/>
          <p:nvPr/>
        </p:nvSpPr>
        <p:spPr>
          <a:xfrm>
            <a:off x="5897880" y="3931920"/>
            <a:ext cx="182880" cy="59436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36" name="Shape 28"/>
          <p:cNvSpPr/>
          <p:nvPr/>
        </p:nvSpPr>
        <p:spPr>
          <a:xfrm>
            <a:off x="5074920" y="45262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B8860B"/>
            </a:solidFill>
            <a:prstDash val="solid"/>
          </a:ln>
        </p:spPr>
      </p:sp>
      <p:pic>
        <p:nvPicPr>
          <p:cNvPr id="37" name="Image 6" descr="icons/review_B8860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4648" y="4654296"/>
            <a:ext cx="338328" cy="338328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5577840" y="452628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6080760" y="3931920"/>
            <a:ext cx="3429000" cy="594360"/>
          </a:xfrm>
          <a:prstGeom prst="line">
            <a:avLst/>
          </a:prstGeom>
          <a:noFill/>
          <a:ln w="12700">
            <a:solidFill>
              <a:srgbClr val="1E2761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8686800" y="4526280"/>
            <a:ext cx="164592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9050">
            <a:solidFill>
              <a:srgbClr val="B00020"/>
            </a:solidFill>
            <a:prstDash val="solid"/>
          </a:ln>
        </p:spPr>
      </p:sp>
      <p:pic>
        <p:nvPicPr>
          <p:cNvPr id="41" name="Image 7" descr="icons/escalate_B0002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96528" y="4654296"/>
            <a:ext cx="338328" cy="338328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189720" y="4526280"/>
            <a:ext cx="1097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43" name="Shape 33"/>
          <p:cNvSpPr/>
          <p:nvPr/>
        </p:nvSpPr>
        <p:spPr>
          <a:xfrm>
            <a:off x="5897880" y="5120640"/>
            <a:ext cx="0" cy="320040"/>
          </a:xfrm>
          <a:prstGeom prst="line">
            <a:avLst/>
          </a:prstGeom>
          <a:noFill/>
          <a:ln w="15875">
            <a:solidFill>
              <a:srgbClr val="B8860B"/>
            </a:solidFill>
            <a:prstDash val="dash"/>
          </a:ln>
        </p:spPr>
      </p:sp>
      <p:sp>
        <p:nvSpPr>
          <p:cNvPr id="44" name="Shape 34"/>
          <p:cNvSpPr/>
          <p:nvPr/>
        </p:nvSpPr>
        <p:spPr>
          <a:xfrm>
            <a:off x="9509760" y="5120640"/>
            <a:ext cx="0" cy="320040"/>
          </a:xfrm>
          <a:prstGeom prst="line">
            <a:avLst/>
          </a:prstGeom>
          <a:noFill/>
          <a:ln w="15875">
            <a:solidFill>
              <a:srgbClr val="B00020"/>
            </a:solidFill>
            <a:prstDash val="dash"/>
          </a:ln>
        </p:spPr>
      </p:sp>
      <p:sp>
        <p:nvSpPr>
          <p:cNvPr id="45" name="Shape 35"/>
          <p:cNvSpPr/>
          <p:nvPr/>
        </p:nvSpPr>
        <p:spPr>
          <a:xfrm>
            <a:off x="4480560" y="5440680"/>
            <a:ext cx="5486400" cy="777240"/>
          </a:xfrm>
          <a:prstGeom prst="roundRect">
            <a:avLst>
              <a:gd name="adj" fmla="val 11765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4823460" y="55778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7" name="Image 8" descr="icons/reviewer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2332" y="5696712"/>
            <a:ext cx="265176" cy="26517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5440680" y="5440680"/>
            <a:ext cx="4434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Investigator Review (Streamlit UI)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/ ESCALATE cases surface full evidence trail for a final call</a:t>
            </a:r>
            <a:endParaRPr lang="en-US" sz="1050" dirty="0"/>
          </a:p>
        </p:txBody>
      </p:sp>
      <p:sp>
        <p:nvSpPr>
          <p:cNvPr id="49" name="Text 3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agent is scoped to one table and grounded by a tool call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4F6FC"/>
          </a:solidFill>
          <a:ln/>
        </p:spPr>
      </p:sp>
      <p:sp>
        <p:nvSpPr>
          <p:cNvPr id="4" name="Shape 2"/>
          <p:cNvSpPr/>
          <p:nvPr/>
        </p:nvSpPr>
        <p:spPr>
          <a:xfrm>
            <a:off x="800100" y="16230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icons/polic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" y="17876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627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Agent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868680" y="2423160"/>
            <a:ext cx="470916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lookup_policy(policy_id)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68680" y="292608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Free-Look Abuse · Backdated Issuance · Fake Policy · Fronting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37160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4F6FC"/>
          </a:solidFill>
          <a:ln/>
        </p:spPr>
      </p:sp>
      <p:sp>
        <p:nvSpPr>
          <p:cNvPr id="10" name="Shape 7"/>
          <p:cNvSpPr/>
          <p:nvPr/>
        </p:nvSpPr>
        <p:spPr>
          <a:xfrm>
            <a:off x="6515100" y="16230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icons/payment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9692" y="1787652"/>
            <a:ext cx="356616" cy="35661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627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Agent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83680" y="2423160"/>
            <a:ext cx="470916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lookup_payments(policy_id)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583680" y="292608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Diversion · Bounced Cheque · Fake Receipt · Bad Refunds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48640" y="406908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4F6FC"/>
          </a:solidFill>
          <a:ln/>
        </p:spPr>
      </p:sp>
      <p:sp>
        <p:nvSpPr>
          <p:cNvPr id="16" name="Shape 12"/>
          <p:cNvSpPr/>
          <p:nvPr/>
        </p:nvSpPr>
        <p:spPr>
          <a:xfrm>
            <a:off x="800100" y="432054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icons/broker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" y="4485132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00200" y="432511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 Integrity Agent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68680" y="5120640"/>
            <a:ext cx="470916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lookup_agent_for_policy() → lookup_ghost_broking(agent_id)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68680" y="562356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Unlicensed / Expired License · Cloned Identity · Premium Pocketing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406908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4F6FC"/>
          </a:solidFill>
          <a:ln/>
        </p:spPr>
      </p:sp>
      <p:sp>
        <p:nvSpPr>
          <p:cNvPr id="22" name="Shape 17"/>
          <p:cNvSpPr/>
          <p:nvPr/>
        </p:nvSpPr>
        <p:spPr>
          <a:xfrm>
            <a:off x="6515100" y="432054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3" descr="icons/claims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692" y="4485132"/>
            <a:ext cx="356616" cy="35661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15200" y="432511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Agent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583680" y="5120640"/>
            <a:ext cx="4709160" cy="36576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lookup_claims(policy_id)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583680" y="562356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Claim Fraud · Staged Accident · Exaggerated Amount · Duplicates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fraud — what each pattern looks like in the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681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68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91640" y="1380744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Free-Look Abuse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is bought only to exploit the free-look cancellation window for a refund, with no genuine risk ever transferred.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269480" y="1490472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52360" y="1490472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Cancelled inside the free-look period, often right after a claim attempt.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7843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843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91640" y="2596896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Backdated Issuance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dates are altered so coverage appears to have existed before a loss actually happened.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2706624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2706624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date sits suspiciously close to, or after, the claim's loss date.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0005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005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3813048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Policy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policy record with no real underwritten contract behind it — no genuine premium history or risk assessment.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69480" y="3922776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3922776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“Active” policy missing the premium and underwriting fields a real one would have.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974336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52166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166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91640" y="5029200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Fronting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straw policyholder masks the real, often ineligible, insured party.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9480" y="5138928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52360" y="5138928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Policyholder profile mismatched to the risk, or lapses shortly after issuance.</a:t>
            </a:r>
            <a:endParaRPr lang="en-US" sz="950" dirty="0"/>
          </a:p>
        </p:txBody>
      </p:sp>
      <p:sp>
        <p:nvSpPr>
          <p:cNvPr id="999" name="PageNum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Payments fraud — what each pattern looks like in the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681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68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91640" y="1380744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Diversion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collects the premium from the customer but never remits it to the insurer.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269480" y="1490472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52360" y="1490472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gap between collection and remittance, or remitted amount short of collected.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7843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843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91640" y="2596896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Bounced Cheque Coverage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instruments that fail are used to keep a policy technically active without ever funding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2706624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2706624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returned or failed payments, policy still shows active.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0005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005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3813048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Receipt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receipt is issued for a payment that was never actually processed or banked.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69480" y="3922776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3922776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number or amount doesn't reconcile with the bank ledger.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974336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52166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166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91640" y="5029200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Refunds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are issued against cancellations or claims that don't qualify, often to a different account.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9480" y="5138928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52360" y="5138928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destination differs from the original payment source.</a:t>
            </a:r>
            <a:endParaRPr lang="en-US" sz="950" dirty="0"/>
          </a:p>
        </p:txBody>
      </p:sp>
      <p:sp>
        <p:nvSpPr>
          <p:cNvPr id="999" name="PageNum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Broker integrity fraud — what each pattern looks like in the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681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68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91640" y="1380744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Unlicensed / Expired License Selling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sells policies without a valid, current license to do so.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269480" y="1490472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52360" y="1490472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Agent's license was expired or suspended on the policy's sale date.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7843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843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91640" y="2596896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Cloned Identity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fraudulent actor operates under a legitimate agent's credentials or a fabricated identity.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2706624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2706624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 ID tied to mismatched contact details or sale geographies.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0005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005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3813048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Pocketing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broker keeps some or all of the collected premium instead of remitting it.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69480" y="3922776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3922776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Collected-vs-remitted ratio stays low across many of the agent's policies.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974336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52166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166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91640" y="5029200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Broking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are sold that were never actually bound with the insurer.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9480" y="5138928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52360" y="5138928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the agent references doesn't exist, or was never underwritten.</a:t>
            </a:r>
            <a:endParaRPr lang="en-US" sz="950" dirty="0"/>
          </a:p>
        </p:txBody>
      </p:sp>
      <p:sp>
        <p:nvSpPr>
          <p:cNvPr id="999" name="PageNum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fraud — what each pattern looks like in the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568196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681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91640" y="1380744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Claim Fraud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is filed suspiciously soon after issuance, before real exposure would typically produce a loss.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269480" y="1490472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52360" y="1490472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gap between policy start date and first claim date.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2784348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7843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691640" y="2596896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Accident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event is manufactured or coordinated between parties to trigger a payout.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269480" y="2706624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52360" y="2706624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inconsistent with damage, or repeat claimants across unrelated policies.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758184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68680" y="40005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0005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3813048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Exaggerated Amount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loss is inflated well beyond its actual value to maximize payout.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269480" y="3922776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3922776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amount is a statistical outlier for that loss type.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974336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F4F6FC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5216652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52166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691640" y="5029200"/>
            <a:ext cx="5394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Claims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loss, customer, or asset is claimed more than once.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269480" y="5138928"/>
            <a:ext cx="4160520" cy="722376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52360" y="5138928"/>
            <a:ext cx="379476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95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  </a:t>
            </a:r>
            <a:r>
              <a:rPr lang="en-US" sz="105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claim details recur under different claim IDs.</a:t>
            </a:r>
            <a:endParaRPr lang="en-US" sz="950" dirty="0"/>
          </a:p>
        </p:txBody>
      </p:sp>
      <p:sp>
        <p:nvSpPr>
          <p:cNvPr id="999" name="PageNum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defensible, tunable fusion rule — not a black box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64240" cy="41148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composite_score = average confidence across agents that independently flagged fraud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4F6FC"/>
          </a:solidFill>
          <a:ln w="19050">
            <a:solidFill>
              <a:srgbClr val="B0002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" y="205740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icons/escalate_B00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" y="2194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92024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00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3794760" y="1920240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agents flag fraud, each with confidence ≥ 0.7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01752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4F6FC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7260" y="315468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icons/review_B886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" y="329184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91640" y="301752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794760" y="3017520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1 agent flags fraud with confidence ≥ 0.8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114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4F6F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37260" y="4251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icons/approve_2E7D3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" y="438912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91640" y="4114800"/>
            <a:ext cx="2011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3794760" y="4114800"/>
            <a:ext cx="75895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— no agent meets the confidence bar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are explicit constants in fuse_verdicts() — tunable and re-testable via evaluate.py, not left to an LLM to improvise.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Escalations route to a person — never an auto-reject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2606040" cy="4297680"/>
          </a:xfrm>
          <a:prstGeom prst="roundRect">
            <a:avLst>
              <a:gd name="adj" fmla="val 4211"/>
            </a:avLst>
          </a:prstGeom>
          <a:solidFill>
            <a:srgbClr val="141B45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783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17320" y="2628900"/>
            <a:ext cx="1051560" cy="10515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icons/escalate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2875788"/>
            <a:ext cx="557784" cy="5577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886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/ ESCALATE fires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4526280"/>
            <a:ext cx="2057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rule flags a case — never a silent auto-reject on a policyholder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46120" y="3703320"/>
            <a:ext cx="1371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83280" y="1554480"/>
            <a:ext cx="2606040" cy="4297680"/>
          </a:xfrm>
          <a:prstGeom prst="roundRect">
            <a:avLst>
              <a:gd name="adj" fmla="val 4211"/>
            </a:avLst>
          </a:prstGeom>
          <a:solidFill>
            <a:srgbClr val="141B45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11880" y="1783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Shape 9"/>
          <p:cNvSpPr/>
          <p:nvPr/>
        </p:nvSpPr>
        <p:spPr>
          <a:xfrm>
            <a:off x="4160520" y="2628900"/>
            <a:ext cx="1051560" cy="10515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icons/search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8" y="2875788"/>
            <a:ext cx="557784" cy="5577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11880" y="3886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evidence surfaces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657600" y="4526280"/>
            <a:ext cx="2057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shows all 4 verdicts, confidence, evidence text, and raw case rows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89320" y="3703320"/>
            <a:ext cx="1371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126480" y="1554480"/>
            <a:ext cx="2606040" cy="4297680"/>
          </a:xfrm>
          <a:prstGeom prst="roundRect">
            <a:avLst>
              <a:gd name="adj" fmla="val 4211"/>
            </a:avLst>
          </a:prstGeom>
          <a:solidFill>
            <a:srgbClr val="141B45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55080" y="1783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Shape 15"/>
          <p:cNvSpPr/>
          <p:nvPr/>
        </p:nvSpPr>
        <p:spPr>
          <a:xfrm>
            <a:off x="6903720" y="2628900"/>
            <a:ext cx="1051560" cy="10515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0" name="Image 2" descr="icons/reviewer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2875788"/>
            <a:ext cx="557784" cy="5577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355080" y="3886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 decides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400800" y="4526280"/>
            <a:ext cx="2057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makes the final call — approve, deny, or request more documentation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732520" y="3703320"/>
            <a:ext cx="13716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869680" y="1554480"/>
            <a:ext cx="2606040" cy="4297680"/>
          </a:xfrm>
          <a:prstGeom prst="roundRect">
            <a:avLst>
              <a:gd name="adj" fmla="val 4211"/>
            </a:avLst>
          </a:prstGeom>
          <a:solidFill>
            <a:srgbClr val="141B45"/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9098280" y="1783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26" name="Shape 21"/>
          <p:cNvSpPr/>
          <p:nvPr/>
        </p:nvSpPr>
        <p:spPr>
          <a:xfrm>
            <a:off x="9646920" y="2628900"/>
            <a:ext cx="1051560" cy="10515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7" name="Image 3" descr="icons/chart_1E27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3808" y="2875788"/>
            <a:ext cx="557784" cy="55778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098280" y="3886200"/>
            <a:ext cx="2148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500" dirty="0"/>
          </a:p>
        </p:txBody>
      </p:sp>
      <p:sp>
        <p:nvSpPr>
          <p:cNvPr id="29" name="Text 23"/>
          <p:cNvSpPr/>
          <p:nvPr/>
        </p:nvSpPr>
        <p:spPr>
          <a:xfrm>
            <a:off x="9144000" y="4526280"/>
            <a:ext cx="2057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inform future threshold tuning in fuse_verdicts()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Microsoft Agent Framework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62940" y="1440180"/>
            <a:ext cx="594360" cy="5943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4" name="Image 0" descr="icons/robot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" y="1586484"/>
            <a:ext cx="301752" cy="30175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14173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FoundryChatClient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892040" y="1417320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to the Azure AI Foundry project + model deployment via AzureCliCredential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2940" y="2336292"/>
            <a:ext cx="594360" cy="5943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8" name="Image 1" descr="icons/cogs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" y="2482596"/>
            <a:ext cx="301752" cy="30175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313432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@tool function calling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892040" y="2313432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Grounds every specialist agent in its actual dataset row — no answering from assumptions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62940" y="3232404"/>
            <a:ext cx="594360" cy="5943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2" name="Image 2" descr="icons/network_1E276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" y="3378708"/>
            <a:ext cx="301752" cy="3017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209544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ConcurrentBuilder + fuse_verdicts()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892040" y="3209544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 4 agents in parallel and aggregates verdicts with a custom, testable rule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62940" y="4128516"/>
            <a:ext cx="594360" cy="5943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16" name="Image 3" descr="icons/reviewer_1E276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" y="4274820"/>
            <a:ext cx="301752" cy="30175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105656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892040" y="4105656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demo UI for the human-in-the-loop investigator review step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62940" y="5024628"/>
            <a:ext cx="594360" cy="594360"/>
          </a:xfrm>
          <a:prstGeom prst="ellipse">
            <a:avLst/>
          </a:prstGeom>
          <a:solidFill>
            <a:srgbClr val="F4F6FC"/>
          </a:solidFill>
          <a:ln/>
        </p:spPr>
      </p:sp>
      <p:pic>
        <p:nvPicPr>
          <p:cNvPr id="20" name="Image 4" descr="icons/chart_1E27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" y="5170932"/>
            <a:ext cx="301752" cy="30175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463040" y="5001768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 + scikit-learn</a:t>
            </a:r>
            <a:endParaRPr lang="en-US" sz="1400" dirty="0"/>
          </a:p>
        </p:txBody>
      </p:sp>
      <p:sp>
        <p:nvSpPr>
          <p:cNvPr id="22" name="Text 15"/>
          <p:cNvSpPr/>
          <p:nvPr/>
        </p:nvSpPr>
        <p:spPr>
          <a:xfrm>
            <a:off x="4892040" y="5001768"/>
            <a:ext cx="6720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/ recall / F1 against ground truth, with a single-agent baseline ablation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walkthrough: POL000914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AGT00077 — flagged independently in all four tables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25146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Fronting / Straw Policyholder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Lapsed status shortly after issuance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Diversion by 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not remitted, 111-day delay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Broker Integrity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 License Sales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Suspended license, customer unaware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Multiple/Duplicate Claims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claims filed by this customer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5196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B00020"/>
          </a:solidFill>
          <a:ln/>
        </p:spPr>
      </p:sp>
      <p:sp>
        <p:nvSpPr>
          <p:cNvPr id="6" name="Shape 3"/>
          <p:cNvSpPr/>
          <p:nvPr/>
        </p:nvSpPr>
        <p:spPr>
          <a:xfrm>
            <a:off x="937260" y="448056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icons/escalate_B000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6634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65960" y="438912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DECISION: ESCALATE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965960" y="48920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composite_score ≈ 0.85   ·   flagged_by: all 4 agents</a:t>
            </a:r>
            <a:endParaRPr lang="en-US" sz="1300" dirty="0"/>
          </a:p>
        </p:txBody>
      </p:sp>
      <p:sp>
        <p:nvSpPr>
          <p:cNvPr id="4" name="Text 6"/>
          <p:cNvSpPr/>
          <p:nvPr/>
        </p:nvSpPr>
        <p:spPr>
          <a:xfrm>
            <a:off x="7955280" y="438912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AGT00077 also appears on a second fraud-flagged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(POL000285) — a repeat-offender pattern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Validating against ground truth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1,000 policies carries a known fraud_flag label — evaluation is straightforward precision/recall against 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65960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icons/network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13969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011680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Fusion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288036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or ESCALATE → predicted fraud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predicted clean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across all 4 agents + fuse_verdicts()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173736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1965960"/>
            <a:ext cx="731520" cy="7315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icons/policy_1E276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416" y="213969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43800" y="2011680"/>
            <a:ext cx="3886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Single-Agent Baseline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29400" y="2880360"/>
            <a:ext cx="4617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Agent verdict alone, no fusion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ground-truth comparison</a:t>
            </a:r>
            <a:endParaRPr lang="en-US" sz="11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value the other 3 agents add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5875">
            <a:solidFill>
              <a:srgbClr val="B8860B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68680" y="44348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pending full run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868680" y="48006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reported: Precision · Recall · F1 · Confusion Matrix, for both columns above.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python evaluate.py  (full 1,000-policy set) or  --limit 100  for a quick sample, then drop the printed table in here for the defense.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5087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on synthetic data with known labels — real claims data has messier signal and evolving fraud patterns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237744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thresholds were set deliberately but not yet tuned against a large labeled evaluation run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2461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Ghost-broking checks are agent-level, not policy-level — a legitimate agent’s one bad policy could still slip through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11480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currently logs decisions manually; a structured feedback loop into threshold tuning is future work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029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98348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would need Azure SQL/Fabric backing instead of local CSVs, plus access controls and audit logging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1691640"/>
            <a:ext cx="1188720" cy="11887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" name="Image 0" descr="icons/shield_1E27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08" y="1984248"/>
            <a:ext cx="603504" cy="6035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Cross-domain signals, fused into one defensible decision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FraudNet — Multi-Agent Insurance Fraud Detection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D4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1541</Words>
  <Application>Microsoft Office PowerPoint</Application>
  <PresentationFormat>Widescreen</PresentationFormat>
  <Paragraphs>254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pavan balaji</cp:lastModifiedBy>
  <cp:revision>5</cp:revision>
  <dcterms:created xsi:type="dcterms:W3CDTF">2026-08-23T13:42:53Z</dcterms:created>
  <dcterms:modified xsi:type="dcterms:W3CDTF">2026-08-23T15:01:58Z</dcterms:modified>
</cp:coreProperties>
</file>