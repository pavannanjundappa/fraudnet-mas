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2865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3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1005840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640080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4" name="Shape 2"/>
          <p:cNvSpPr/>
          <p:nvPr/>
        </p:nvSpPr>
        <p:spPr>
          <a:xfrm>
            <a:off x="11064240" y="1188720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0" y="1737360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Shape 4"/>
          <p:cNvSpPr/>
          <p:nvPr/>
        </p:nvSpPr>
        <p:spPr>
          <a:xfrm>
            <a:off x="11247120" y="1920240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7" name="Shape 5"/>
          <p:cNvSpPr/>
          <p:nvPr/>
        </p:nvSpPr>
        <p:spPr>
          <a:xfrm>
            <a:off x="9418320" y="2103120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Shape 6"/>
          <p:cNvSpPr/>
          <p:nvPr/>
        </p:nvSpPr>
        <p:spPr>
          <a:xfrm>
            <a:off x="9733788" y="681228"/>
            <a:ext cx="731520" cy="365760"/>
          </a:xfrm>
          <a:prstGeom prst="line">
            <a:avLst/>
          </a:prstGeom>
          <a:noFill/>
          <a:ln w="9525">
            <a:solidFill>
              <a:srgbClr val="CADCFC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465308" y="681228"/>
            <a:ext cx="640080" cy="548640"/>
          </a:xfrm>
          <a:prstGeom prst="line">
            <a:avLst/>
          </a:prstGeom>
          <a:noFill/>
          <a:ln w="9525">
            <a:solidFill>
              <a:srgbClr val="CADCFC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99548" y="681228"/>
            <a:ext cx="365760" cy="1097280"/>
          </a:xfrm>
          <a:prstGeom prst="line">
            <a:avLst/>
          </a:prstGeom>
          <a:noFill/>
          <a:ln w="9525">
            <a:solidFill>
              <a:srgbClr val="CADCFC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99548" y="1778508"/>
            <a:ext cx="1188720" cy="182880"/>
          </a:xfrm>
          <a:prstGeom prst="line">
            <a:avLst/>
          </a:prstGeom>
          <a:noFill/>
          <a:ln w="9525">
            <a:solidFill>
              <a:srgbClr val="CADCFC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59468" y="1778508"/>
            <a:ext cx="640080" cy="365760"/>
          </a:xfrm>
          <a:prstGeom prst="line">
            <a:avLst/>
          </a:prstGeom>
          <a:noFill/>
          <a:ln w="9525">
            <a:solidFill>
              <a:srgbClr val="CADCFC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733788" y="1046988"/>
            <a:ext cx="365760" cy="731520"/>
          </a:xfrm>
          <a:prstGeom prst="line">
            <a:avLst/>
          </a:prstGeom>
          <a:noFill/>
          <a:ln w="9525">
            <a:solidFill>
              <a:srgbClr val="CADCFC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33172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FraudNet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868680" y="34290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Insurance Fraud Detection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68680" y="39776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9B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Microsoft Agent Framework  ·  FoundryChatClient + ConcurrentBuilder  ·  Human-in-the-Loop Review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68680" y="4892040"/>
            <a:ext cx="201168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5074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IIT 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Bhilai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Final-Year Master’s Project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5394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9B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Pavan Balaji Nanjundappa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D4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Insurance fraud hides across systems, not within one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1673352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527048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D4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rings exploit the seams between policy issuance, premium payments, broker channels, and claims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94360" y="2724912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578608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D4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Siloed rule engines and single-model classifiers only ever see one slice of the story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4360" y="3776472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630168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D4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ghost broker selling fake policies looks unremarkable in the claims table alone — the pattern only appears when tables are read together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537960" y="1691640"/>
            <a:ext cx="2377440" cy="1965960"/>
          </a:xfrm>
          <a:prstGeom prst="roundRect">
            <a:avLst>
              <a:gd name="adj" fmla="val 5581"/>
            </a:avLst>
          </a:prstGeom>
          <a:solidFill>
            <a:srgbClr val="1E2761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0" y="1938528"/>
            <a:ext cx="822960" cy="8229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0" descr="icons/policy_1E276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6368" y="2139696"/>
            <a:ext cx="420624" cy="42062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629400" y="288036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/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Free-Look Abuse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9235440" y="1691640"/>
            <a:ext cx="2377440" cy="1965960"/>
          </a:xfrm>
          <a:prstGeom prst="roundRect">
            <a:avLst>
              <a:gd name="adj" fmla="val 5581"/>
            </a:avLst>
          </a:prstGeom>
          <a:solidFill>
            <a:srgbClr val="1E2761"/>
          </a:solidFill>
          <a:ln/>
        </p:spPr>
      </p:sp>
      <p:sp>
        <p:nvSpPr>
          <p:cNvPr id="14" name="Shape 11"/>
          <p:cNvSpPr/>
          <p:nvPr/>
        </p:nvSpPr>
        <p:spPr>
          <a:xfrm>
            <a:off x="10012680" y="1938528"/>
            <a:ext cx="822960" cy="8229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5" name="Image 1" descr="icons/payments_1E276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3848" y="2139696"/>
            <a:ext cx="420624" cy="42062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9326880" y="288036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537960" y="3977640"/>
            <a:ext cx="2377440" cy="1965960"/>
          </a:xfrm>
          <a:prstGeom prst="roundRect">
            <a:avLst>
              <a:gd name="adj" fmla="val 5581"/>
            </a:avLst>
          </a:prstGeom>
          <a:solidFill>
            <a:srgbClr val="1E2761"/>
          </a:solidFill>
          <a:ln/>
        </p:spPr>
      </p:sp>
      <p:sp>
        <p:nvSpPr>
          <p:cNvPr id="18" name="Shape 14"/>
          <p:cNvSpPr/>
          <p:nvPr/>
        </p:nvSpPr>
        <p:spPr>
          <a:xfrm>
            <a:off x="7315200" y="4224528"/>
            <a:ext cx="822960" cy="8229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9" name="Image 2" descr="icons/broker_1E276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6368" y="4425696"/>
            <a:ext cx="420624" cy="42062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629400" y="516636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Broking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9235440" y="3977640"/>
            <a:ext cx="2377440" cy="1965960"/>
          </a:xfrm>
          <a:prstGeom prst="roundRect">
            <a:avLst>
              <a:gd name="adj" fmla="val 5581"/>
            </a:avLst>
          </a:prstGeom>
          <a:solidFill>
            <a:srgbClr val="1E2761"/>
          </a:solidFill>
          <a:ln/>
        </p:spPr>
      </p:sp>
      <p:sp>
        <p:nvSpPr>
          <p:cNvPr id="22" name="Shape 17"/>
          <p:cNvSpPr/>
          <p:nvPr/>
        </p:nvSpPr>
        <p:spPr>
          <a:xfrm>
            <a:off x="10012680" y="4224528"/>
            <a:ext cx="822960" cy="8229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3" name="Image 3" descr="icons/claims_1E276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13848" y="4425696"/>
            <a:ext cx="420624" cy="42062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326880" y="516636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D4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linked synthetic datasets, 1,000 records each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D4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record shares customer_id, agent_id, or policy_id — the same bad actor leaves a trail across tables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3,200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3D4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343400" y="160020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380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343400" y="22860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3D4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(51 ghost brokers)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138160" y="160020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 x 4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8138160" y="22860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3D4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across all tables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788920"/>
            <a:ext cx="11064240" cy="0"/>
          </a:xfrm>
          <a:prstGeom prst="line">
            <a:avLst/>
          </a:prstGeom>
          <a:noFill/>
          <a:ln w="12700">
            <a:solidFill>
              <a:srgbClr val="DCE1F0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17520"/>
          <a:ext cx="11064240" cy="274320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52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Fraud Rate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Fraud Types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policies_free_insurance.csv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Free-Look Abuse, Backdated Issuance, Fronting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payments_bad_payments.csv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 Diversion, Bounced Cheque Coverage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ghost_broking.csv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Unlicensed Selling, Premium Pocketing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claims.csv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 Claim Fraud, Staged Accident, Duplicate Claims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D4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Architecture: four agents in parallel, one fused decision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8016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Input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policy_id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377440" y="1668780"/>
            <a:ext cx="8037576" cy="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80360" y="1051560"/>
            <a:ext cx="1691640" cy="1234440"/>
          </a:xfrm>
          <a:prstGeom prst="roundRect">
            <a:avLst>
              <a:gd name="adj" fmla="val 7407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0" y="1184148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icons/policy_1E276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3592" y="1303020"/>
            <a:ext cx="265176" cy="26517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926080" y="1764792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828032" y="1051560"/>
            <a:ext cx="1691640" cy="1234440"/>
          </a:xfrm>
          <a:prstGeom prst="roundRect">
            <a:avLst>
              <a:gd name="adj" fmla="val 7407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422392" y="1184148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icons/payments_1E276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1264" y="1303020"/>
            <a:ext cx="265176" cy="26517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73752" y="1764792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775704" y="1051560"/>
            <a:ext cx="1691640" cy="1234440"/>
          </a:xfrm>
          <a:prstGeom prst="roundRect">
            <a:avLst>
              <a:gd name="adj" fmla="val 7407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370064" y="1184148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icons/broker_1E276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8936" y="1303020"/>
            <a:ext cx="265176" cy="26517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21424" y="1764792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Integrity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8723376" y="1051560"/>
            <a:ext cx="1691640" cy="1234440"/>
          </a:xfrm>
          <a:prstGeom prst="roundRect">
            <a:avLst>
              <a:gd name="adj" fmla="val 7407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9317736" y="1184148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3" descr="icons/claims_1E276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36608" y="1303020"/>
            <a:ext cx="265176" cy="26517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769096" y="1764792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2880360" y="2395728"/>
            <a:ext cx="7534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3D4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ConcurrentBuilder — all four run in parallel against the same case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3726180" y="2788920"/>
            <a:ext cx="2354580" cy="27432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5673852" y="2788920"/>
            <a:ext cx="406908" cy="27432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080760" y="2788920"/>
            <a:ext cx="1540764" cy="27432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6080760" y="2788920"/>
            <a:ext cx="3488436" cy="27432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4480560" y="3063240"/>
            <a:ext cx="3200400" cy="868680"/>
          </a:xfrm>
          <a:prstGeom prst="roundRect">
            <a:avLst>
              <a:gd name="adj" fmla="val 10526"/>
            </a:avLst>
          </a:prstGeom>
          <a:solidFill>
            <a:srgbClr val="1E2761"/>
          </a:solidFill>
          <a:ln/>
        </p:spPr>
      </p:sp>
      <p:sp>
        <p:nvSpPr>
          <p:cNvPr id="28" name="Shape 22"/>
          <p:cNvSpPr/>
          <p:nvPr/>
        </p:nvSpPr>
        <p:spPr>
          <a:xfrm>
            <a:off x="4823460" y="324612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9" name="Image 4" descr="icons/cogs_1E276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42332" y="3364992"/>
            <a:ext cx="265176" cy="265176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440680" y="306324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fuse_verdicts()</a:t>
            </a:r>
            <a:endParaRPr lang="en-US" sz="1100" dirty="0"/>
          </a:p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score + threshold rule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2286000" y="3931920"/>
            <a:ext cx="3794760" cy="59436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1463040" y="4526280"/>
            <a:ext cx="16459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9050">
            <a:solidFill>
              <a:srgbClr val="2E7D32"/>
            </a:solidFill>
            <a:prstDash val="solid"/>
          </a:ln>
        </p:spPr>
      </p:sp>
      <p:pic>
        <p:nvPicPr>
          <p:cNvPr id="33" name="Image 5" descr="icons/approve_2E7D3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72768" y="4654296"/>
            <a:ext cx="338328" cy="33832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1965960" y="452628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200" dirty="0"/>
          </a:p>
        </p:txBody>
      </p:sp>
      <p:sp>
        <p:nvSpPr>
          <p:cNvPr id="35" name="Shape 27"/>
          <p:cNvSpPr/>
          <p:nvPr/>
        </p:nvSpPr>
        <p:spPr>
          <a:xfrm>
            <a:off x="5897880" y="3931920"/>
            <a:ext cx="182880" cy="59436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5074920" y="4526280"/>
            <a:ext cx="16459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9050">
            <a:solidFill>
              <a:srgbClr val="B8860B"/>
            </a:solidFill>
            <a:prstDash val="solid"/>
          </a:ln>
        </p:spPr>
      </p:sp>
      <p:pic>
        <p:nvPicPr>
          <p:cNvPr id="37" name="Image 6" descr="icons/review_B8860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84648" y="4654296"/>
            <a:ext cx="338328" cy="338328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5577840" y="452628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200" dirty="0"/>
          </a:p>
        </p:txBody>
      </p:sp>
      <p:sp>
        <p:nvSpPr>
          <p:cNvPr id="39" name="Shape 30"/>
          <p:cNvSpPr/>
          <p:nvPr/>
        </p:nvSpPr>
        <p:spPr>
          <a:xfrm>
            <a:off x="6080760" y="3931920"/>
            <a:ext cx="3429000" cy="59436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8686800" y="4526280"/>
            <a:ext cx="16459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9050">
            <a:solidFill>
              <a:srgbClr val="B00020"/>
            </a:solidFill>
            <a:prstDash val="solid"/>
          </a:ln>
        </p:spPr>
      </p:sp>
      <p:pic>
        <p:nvPicPr>
          <p:cNvPr id="41" name="Image 7" descr="icons/escalate_B0002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96528" y="4654296"/>
            <a:ext cx="338328" cy="338328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189720" y="452628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</a:t>
            </a:r>
            <a:endParaRPr lang="en-US" sz="1200" dirty="0"/>
          </a:p>
        </p:txBody>
      </p:sp>
      <p:sp>
        <p:nvSpPr>
          <p:cNvPr id="43" name="Shape 33"/>
          <p:cNvSpPr/>
          <p:nvPr/>
        </p:nvSpPr>
        <p:spPr>
          <a:xfrm>
            <a:off x="5897880" y="5120640"/>
            <a:ext cx="0" cy="320040"/>
          </a:xfrm>
          <a:prstGeom prst="line">
            <a:avLst/>
          </a:prstGeom>
          <a:noFill/>
          <a:ln w="15875">
            <a:solidFill>
              <a:srgbClr val="B8860B"/>
            </a:solidFill>
            <a:prstDash val="dash"/>
          </a:ln>
        </p:spPr>
      </p:sp>
      <p:sp>
        <p:nvSpPr>
          <p:cNvPr id="44" name="Shape 34"/>
          <p:cNvSpPr/>
          <p:nvPr/>
        </p:nvSpPr>
        <p:spPr>
          <a:xfrm>
            <a:off x="9509760" y="5120640"/>
            <a:ext cx="0" cy="320040"/>
          </a:xfrm>
          <a:prstGeom prst="line">
            <a:avLst/>
          </a:prstGeom>
          <a:noFill/>
          <a:ln w="15875">
            <a:solidFill>
              <a:srgbClr val="B00020"/>
            </a:solidFill>
            <a:prstDash val="dash"/>
          </a:ln>
        </p:spPr>
      </p:sp>
      <p:sp>
        <p:nvSpPr>
          <p:cNvPr id="45" name="Shape 35"/>
          <p:cNvSpPr/>
          <p:nvPr/>
        </p:nvSpPr>
        <p:spPr>
          <a:xfrm>
            <a:off x="4480560" y="5440680"/>
            <a:ext cx="5486400" cy="777240"/>
          </a:xfrm>
          <a:prstGeom prst="roundRect">
            <a:avLst>
              <a:gd name="adj" fmla="val 11765"/>
            </a:avLst>
          </a:prstGeom>
          <a:solidFill>
            <a:srgbClr val="F4F6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6" name="Shape 36"/>
          <p:cNvSpPr/>
          <p:nvPr/>
        </p:nvSpPr>
        <p:spPr>
          <a:xfrm>
            <a:off x="4823460" y="55778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7" name="Image 8" descr="icons/reviewer_FFFFFF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42332" y="5696712"/>
            <a:ext cx="265176" cy="265176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5440680" y="544068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Investigator Review (Streamlit UI)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/ ESCALATE cases surface full evidence trail for a final call</a:t>
            </a:r>
            <a:endParaRPr lang="en-US" sz="1050" dirty="0"/>
          </a:p>
        </p:txBody>
      </p:sp>
      <p:sp>
        <p:nvSpPr>
          <p:cNvPr id="49" name="Text 3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D4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agent is scoped to one table and grounded by a tool call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4F6FC"/>
          </a:solidFill>
          <a:ln/>
        </p:spPr>
      </p:sp>
      <p:sp>
        <p:nvSpPr>
          <p:cNvPr id="4" name="Shape 2"/>
          <p:cNvSpPr/>
          <p:nvPr/>
        </p:nvSpPr>
        <p:spPr>
          <a:xfrm>
            <a:off x="800100" y="162306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icons/policy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" y="1787652"/>
            <a:ext cx="356616" cy="3566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627632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Agent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868680" y="2423160"/>
            <a:ext cx="4709160" cy="36576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lookup_policy(policy_id)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68680" y="2926080"/>
            <a:ext cx="4709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D4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Free-Look Abuse · Backdated Issuance · Fake Policy · Fronting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63640" y="137160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4F6FC"/>
          </a:solidFill>
          <a:ln/>
        </p:spPr>
      </p:sp>
      <p:sp>
        <p:nvSpPr>
          <p:cNvPr id="10" name="Shape 7"/>
          <p:cNvSpPr/>
          <p:nvPr/>
        </p:nvSpPr>
        <p:spPr>
          <a:xfrm>
            <a:off x="6515100" y="162306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icons/payments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9692" y="1787652"/>
            <a:ext cx="356616" cy="3566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1627632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Agent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6583680" y="2423160"/>
            <a:ext cx="4709160" cy="36576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lookup_payments(policy_id)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6583680" y="2926080"/>
            <a:ext cx="4709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D4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Diversion · Bounced Cheque · Fake Receipt · Bad Refunds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48640" y="406908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4F6FC"/>
          </a:solidFill>
          <a:ln/>
        </p:spPr>
      </p:sp>
      <p:sp>
        <p:nvSpPr>
          <p:cNvPr id="16" name="Shape 12"/>
          <p:cNvSpPr/>
          <p:nvPr/>
        </p:nvSpPr>
        <p:spPr>
          <a:xfrm>
            <a:off x="800100" y="432054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icons/broker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692" y="4485132"/>
            <a:ext cx="356616" cy="35661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00200" y="4325112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Integrity Agent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868680" y="5120640"/>
            <a:ext cx="4709160" cy="36576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lookup_agent_for_policy() → lookup_ghost_broking(agent_id)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868680" y="5623560"/>
            <a:ext cx="4709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D4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Unlicensed / Expired License · Cloned Identity · Premium Pocketing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6263640" y="406908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4F6FC"/>
          </a:solidFill>
          <a:ln/>
        </p:spPr>
      </p:sp>
      <p:sp>
        <p:nvSpPr>
          <p:cNvPr id="22" name="Shape 17"/>
          <p:cNvSpPr/>
          <p:nvPr/>
        </p:nvSpPr>
        <p:spPr>
          <a:xfrm>
            <a:off x="6515100" y="432054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3" name="Image 3" descr="icons/claims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9692" y="4485132"/>
            <a:ext cx="356616" cy="35661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315200" y="4325112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Agent</a:t>
            </a:r>
            <a:endParaRPr lang="en-US" sz="1550" dirty="0"/>
          </a:p>
        </p:txBody>
      </p:sp>
      <p:sp>
        <p:nvSpPr>
          <p:cNvPr id="25" name="Text 19"/>
          <p:cNvSpPr/>
          <p:nvPr/>
        </p:nvSpPr>
        <p:spPr>
          <a:xfrm>
            <a:off x="6583680" y="5120640"/>
            <a:ext cx="4709160" cy="36576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lookup_claims(policy_id)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6583680" y="5623560"/>
            <a:ext cx="4709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D4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Claim Fraud · Staged Accident · Exaggerated Amount · Duplicates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D4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defensible, tunable fusion rule — not a black box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64240" cy="41148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composite_score = average confidence across agents that independently flagged fraud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4F6FC"/>
          </a:solidFill>
          <a:ln w="19050">
            <a:solidFill>
              <a:srgbClr val="B000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7260" y="205740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icons/escalate_B000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" y="219456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920240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3794760" y="1920240"/>
            <a:ext cx="7589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D4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2 agents flag fraud, each with confidence ≥ 0.7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301752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4F6FC"/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37260" y="315468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icons/review_B8860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420" y="329184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91640" y="3017520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3794760" y="3017520"/>
            <a:ext cx="7589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D4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1 agent flags fraud with confidence ≥ 0.8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48640" y="41148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4F6FC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37260" y="425196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icons/approve_2E7D3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4420" y="438912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114800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3794760" y="4114800"/>
            <a:ext cx="7589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D4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otherwise — no agent meets the confidence bar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548640" y="53492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D4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 are explicit constants in fuse_verdicts() — tunable and re-testable via evaluate.py, not left to an LLM to improvise.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D4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Escalations route to a person — never an auto-reject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2606040" cy="4297680"/>
          </a:xfrm>
          <a:prstGeom prst="roundRect">
            <a:avLst>
              <a:gd name="adj" fmla="val 4211"/>
            </a:avLst>
          </a:prstGeom>
          <a:solidFill>
            <a:srgbClr val="141B45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7830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417320" y="2628900"/>
            <a:ext cx="1051560" cy="10515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icons/escalate_1E276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4208" y="2875788"/>
            <a:ext cx="557784" cy="5577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88620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/ ESCALATE fires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4526280"/>
            <a:ext cx="2057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rule flags a case — never a silent auto-reject on a policyholder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46120" y="3703320"/>
            <a:ext cx="13716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383280" y="1554480"/>
            <a:ext cx="2606040" cy="4297680"/>
          </a:xfrm>
          <a:prstGeom prst="roundRect">
            <a:avLst>
              <a:gd name="adj" fmla="val 4211"/>
            </a:avLst>
          </a:prstGeom>
          <a:solidFill>
            <a:srgbClr val="141B45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11880" y="17830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4160520" y="2628900"/>
            <a:ext cx="1051560" cy="10515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3" name="Image 1" descr="icons/search_1E276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7408" y="2875788"/>
            <a:ext cx="557784" cy="5577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11880" y="388620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evidence surfaces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657600" y="4526280"/>
            <a:ext cx="2057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 shows all 4 verdicts, confidence, evidence text, and raw case rows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989320" y="3703320"/>
            <a:ext cx="13716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126480" y="1554480"/>
            <a:ext cx="2606040" cy="4297680"/>
          </a:xfrm>
          <a:prstGeom prst="roundRect">
            <a:avLst>
              <a:gd name="adj" fmla="val 4211"/>
            </a:avLst>
          </a:prstGeom>
          <a:solidFill>
            <a:srgbClr val="141B45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355080" y="17830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19" name="Shape 15"/>
          <p:cNvSpPr/>
          <p:nvPr/>
        </p:nvSpPr>
        <p:spPr>
          <a:xfrm>
            <a:off x="6903720" y="2628900"/>
            <a:ext cx="1051560" cy="10515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0" name="Image 2" descr="icons/reviewer_1E276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0608" y="2875788"/>
            <a:ext cx="557784" cy="55778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355080" y="388620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Investigator decides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6400800" y="4526280"/>
            <a:ext cx="2057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 makes the final call — approve, deny, or request more documentation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8732520" y="3703320"/>
            <a:ext cx="13716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8869680" y="1554480"/>
            <a:ext cx="2606040" cy="4297680"/>
          </a:xfrm>
          <a:prstGeom prst="roundRect">
            <a:avLst>
              <a:gd name="adj" fmla="val 4211"/>
            </a:avLst>
          </a:prstGeom>
          <a:solidFill>
            <a:srgbClr val="141B45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9098280" y="17830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800" dirty="0"/>
          </a:p>
        </p:txBody>
      </p:sp>
      <p:sp>
        <p:nvSpPr>
          <p:cNvPr id="26" name="Shape 21"/>
          <p:cNvSpPr/>
          <p:nvPr/>
        </p:nvSpPr>
        <p:spPr>
          <a:xfrm>
            <a:off x="9646920" y="2628900"/>
            <a:ext cx="1051560" cy="10515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7" name="Image 3" descr="icons/chart_1E276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93808" y="2875788"/>
            <a:ext cx="557784" cy="55778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098280" y="388620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</a:t>
            </a:r>
            <a:endParaRPr lang="en-US" sz="1500" dirty="0"/>
          </a:p>
        </p:txBody>
      </p:sp>
      <p:sp>
        <p:nvSpPr>
          <p:cNvPr id="29" name="Text 23"/>
          <p:cNvSpPr/>
          <p:nvPr/>
        </p:nvSpPr>
        <p:spPr>
          <a:xfrm>
            <a:off x="9144000" y="4526280"/>
            <a:ext cx="2057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inform future threshold tuning in fuse_verdicts()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D4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on Microsoft Agent Framework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62940" y="1440180"/>
            <a:ext cx="594360" cy="594360"/>
          </a:xfrm>
          <a:prstGeom prst="ellipse">
            <a:avLst/>
          </a:prstGeom>
          <a:solidFill>
            <a:srgbClr val="F4F6FC"/>
          </a:solidFill>
          <a:ln/>
        </p:spPr>
      </p:sp>
      <p:pic>
        <p:nvPicPr>
          <p:cNvPr id="4" name="Image 0" descr="icons/robot_1E276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" y="1586484"/>
            <a:ext cx="301752" cy="3017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14173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FoundryChatClient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892040" y="1417320"/>
            <a:ext cx="6720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D4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the Azure AI Foundry project + model deployment via AzureCliCredential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62940" y="2336292"/>
            <a:ext cx="594360" cy="594360"/>
          </a:xfrm>
          <a:prstGeom prst="ellipse">
            <a:avLst/>
          </a:prstGeom>
          <a:solidFill>
            <a:srgbClr val="F4F6FC"/>
          </a:solidFill>
          <a:ln/>
        </p:spPr>
      </p:sp>
      <p:pic>
        <p:nvPicPr>
          <p:cNvPr id="8" name="Image 1" descr="icons/cogs_1E276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" y="2482596"/>
            <a:ext cx="301752" cy="30175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2313432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@tool function calling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4892040" y="2313432"/>
            <a:ext cx="6720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D4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Grounds every specialist agent in its actual dataset row — no answering from assumptions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62940" y="3232404"/>
            <a:ext cx="594360" cy="594360"/>
          </a:xfrm>
          <a:prstGeom prst="ellipse">
            <a:avLst/>
          </a:prstGeom>
          <a:solidFill>
            <a:srgbClr val="F4F6FC"/>
          </a:solidFill>
          <a:ln/>
        </p:spPr>
      </p:sp>
      <p:pic>
        <p:nvPicPr>
          <p:cNvPr id="12" name="Image 2" descr="icons/network_1E276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" y="3378708"/>
            <a:ext cx="301752" cy="30175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63040" y="3209544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ConcurrentBuilder + fuse_verdicts()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4892040" y="3209544"/>
            <a:ext cx="6720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D4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all 4 agents in parallel and aggregates verdicts with a custom, testable rule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62940" y="4128516"/>
            <a:ext cx="594360" cy="594360"/>
          </a:xfrm>
          <a:prstGeom prst="ellipse">
            <a:avLst/>
          </a:prstGeom>
          <a:solidFill>
            <a:srgbClr val="F4F6FC"/>
          </a:solidFill>
          <a:ln/>
        </p:spPr>
      </p:sp>
      <p:pic>
        <p:nvPicPr>
          <p:cNvPr id="16" name="Image 3" descr="icons/reviewer_1E276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244" y="4274820"/>
            <a:ext cx="301752" cy="30175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63040" y="4105656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4892040" y="4105656"/>
            <a:ext cx="6720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D4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demo UI for the human-in-the-loop investigator review step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662940" y="5024628"/>
            <a:ext cx="594360" cy="594360"/>
          </a:xfrm>
          <a:prstGeom prst="ellipse">
            <a:avLst/>
          </a:prstGeom>
          <a:solidFill>
            <a:srgbClr val="F4F6FC"/>
          </a:solidFill>
          <a:ln/>
        </p:spPr>
      </p:sp>
      <p:pic>
        <p:nvPicPr>
          <p:cNvPr id="20" name="Image 4" descr="icons/chart_1E276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244" y="5170932"/>
            <a:ext cx="301752" cy="30175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463040" y="5001768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evaluate.py + scikit-learn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4892040" y="5001768"/>
            <a:ext cx="6720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D4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/ recall / F1 against ground truth, with a single-agent baseline ablation</a:t>
            </a:r>
            <a:endParaRPr lang="en-US" sz="1250" dirty="0"/>
          </a:p>
        </p:txBody>
      </p:sp>
      <p:sp>
        <p:nvSpPr>
          <p:cNvPr id="23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D4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walkthrough: POL000914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D4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AGT00077 — flagged independently in all four tables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25146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Fronting / Straw Policyholder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Lapsed status shortly after issuance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 Diversion by Agent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 not remitted, 111-day delay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Broker Integrity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Expired License Sales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Suspended license, customer unaware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Multiple/Duplicate Claims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claims filed by this customer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25196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B00020"/>
          </a:solidFill>
          <a:ln/>
        </p:spPr>
      </p:sp>
      <p:sp>
        <p:nvSpPr>
          <p:cNvPr id="6" name="Shape 3"/>
          <p:cNvSpPr/>
          <p:nvPr/>
        </p:nvSpPr>
        <p:spPr>
          <a:xfrm>
            <a:off x="937260" y="448056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icons/escalate_B000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" y="4663440"/>
            <a:ext cx="411480" cy="411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965960" y="43891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DECISION: ESCALATE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1965960" y="48920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composite_score ≈ 0.85   ·   flagged_by: all 4 agents</a:t>
            </a:r>
            <a:endParaRPr lang="en-US" sz="1300" dirty="0"/>
          </a:p>
        </p:txBody>
      </p:sp>
      <p:sp>
        <p:nvSpPr>
          <p:cNvPr id="4" name="Text 6"/>
          <p:cNvSpPr/>
          <p:nvPr/>
        </p:nvSpPr>
        <p:spPr>
          <a:xfrm>
            <a:off x="7955280" y="4389120"/>
            <a:ext cx="3383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AGT00077 also appears on a second fraud-flagged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(POL000285) — a repeat-offender pattern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D4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Validating against ground truth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D4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 1,000 policies carries a known fraud_flag label — evaluation is straightforward precision/recall against it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22860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65960"/>
            <a:ext cx="731520" cy="7315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icons/network_1E276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2139696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011680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Fusion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2880360"/>
            <a:ext cx="4617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or ESCALATE → predicted fraud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→ predicted clean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across all 4 agents + fuse_verdicts()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63640" y="1737360"/>
            <a:ext cx="5349240" cy="22860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</p:sp>
      <p:sp>
        <p:nvSpPr>
          <p:cNvPr id="10" name="Shape 7"/>
          <p:cNvSpPr/>
          <p:nvPr/>
        </p:nvSpPr>
        <p:spPr>
          <a:xfrm>
            <a:off x="6583680" y="1965960"/>
            <a:ext cx="731520" cy="7315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1" descr="icons/policy_1E276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7416" y="2139696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43800" y="2011680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Single-Agent Baseline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629400" y="2880360"/>
            <a:ext cx="4617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Agent verdict alone, no fusion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ground-truth comparison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Isolates the value the other 3 agents add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429768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4F6FC"/>
          </a:solidFill>
          <a:ln w="15875">
            <a:solidFill>
              <a:srgbClr val="B8860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68680" y="4434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pending full run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868680" y="4800600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D4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reported: Precision · Recall · F1 · Confusion Matrix, for both columns above.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D4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 python evaluate.py  (full 1,000-policy set) or  --limit 100  for a quick sample, then drop the printed table in here for the defense.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D4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future work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88720" y="1508760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D4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on synthetic data with known labels — real claims data has messier signal and evolving fraud patterns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2377440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D4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thresholds were set deliberately but not yet tuned against a large labeled evaluation run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2918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3246120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D4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Ghost-broking checks are agent-level, not policy-level — a legitimate agent’s one bad policy could still slip through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4114800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D4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currently logs decisions manually; a structured feedback loop into threshold tuning is future work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50292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5029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4983480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D4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deployment would need Azure SQL/Fabric backing instead of local CSVs, plus access controls and audit logging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D4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1691640"/>
            <a:ext cx="1188720" cy="11887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" name="Image 0" descr="icons/shield_1E276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9008" y="1984248"/>
            <a:ext cx="603504" cy="6035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200400"/>
            <a:ext cx="9418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Cross-domain signals, fused into one defensible decision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371600" y="402336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FraudNet — Multi-Agent Insurance Fraud Detection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371600" y="484632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Questions?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D4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981</Words>
  <Application>Microsoft Office PowerPoint</Application>
  <PresentationFormat>Widescreen</PresentationFormat>
  <Paragraphs>182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pavan balaji</cp:lastModifiedBy>
  <cp:revision>2</cp:revision>
  <dcterms:created xsi:type="dcterms:W3CDTF">2026-08-23T13:42:53Z</dcterms:created>
  <dcterms:modified xsi:type="dcterms:W3CDTF">2026-08-23T14:44:18Z</dcterms:modified>
</cp:coreProperties>
</file>